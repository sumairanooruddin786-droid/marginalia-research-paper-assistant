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c668c8bb-d58c-c792-d63b-c70a693cfb11}">
          <p14:sldIdLst>
            <p14:sldId id="256"/>
          </p14:sldIdLst>
        </p14:section>
        <p14:section name="Background" id="{d961620a-96d1-e913-e90c-6296cd9050c1}">
          <p14:sldIdLst>
            <p14:sldId id="257"/>
            <p14:sldId id="258"/>
          </p14:sldIdLst>
        </p14:section>
        <p14:section name="Design" id="{b30b0074-e4da-bec3-1f2e-f49a60ab8cf9}">
          <p14:sldIdLst>
            <p14:sldId id="259"/>
            <p14:sldId id="260"/>
            <p14:sldId id="261"/>
          </p14:sldIdLst>
        </p14:section>
        <p14:section name="Implementation" id="{287b8668-8e90-61f7-b71c-93aba7a693a9}">
          <p14:sldIdLst>
            <p14:sldId id="262"/>
            <p14:sldId id="263"/>
            <p14:sldId id="264"/>
            <p14:sldId id="265"/>
          </p14:sldIdLst>
        </p14:section>
        <p14:section name="Results" id="{ead7d2ea-9c8a-76bd-2411-e176a33171f8}">
          <p14:sldIdLst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research paper assistant that answers only from uploaded PDFs and always shows the source document and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motivations: long papers, hallucinating chatbots, and the need for verifiable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= Retrieval-Augmented Generation. Retrieval gives the model evidence, generation turns evidence into a readable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requirement from the brief is implemented; the next slides show how.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app runs from one command; FastAPI also serves the frontend.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paths share one vector database. Metadata (file name, page, chunk index) is stored with every chunk.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doc_id is a hash of the file contents, so uploading the same paper twice is detected.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prompt also tells the model to ignore instructions inside excerpts, since PDFs are untrusted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page numbers are read from metadata, the model cannot make up a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the frontend and the API validate input, so the rules hold even when the API is called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Highlighter-style evidence is the main visual idea: the cited passage is marked like on paper. The screenshot uses demo data; replace it with one from your own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with: pytest -q. Real Gemini calls need your own API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what is not covered: OCR and layout-aware table extraction are the biggest gaps.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 the three guarantees: grounded, cited, graceful.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Marginalia  |  Research Paper Assistant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4937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Data Science  |  SMIT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3716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Marginalia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Paper Assistant using RAG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papers. Every answer points to the page.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Anushay Ayat</a:t>
            </a:r>
            <a:endParaRPr lang="en-US" sz="1600" dirty="0"/>
          </a:p>
        </p:txBody>
      </p:sp>
      <p:sp>
        <p:nvSpPr>
          <p:cNvPr id="7" name="Paper mock"/>
          <p:cNvSpPr/>
          <p:nvPr/>
        </p:nvSpPr>
        <p:spPr>
          <a:xfrm>
            <a:off x="5943600" y="822960"/>
            <a:ext cx="2651760" cy="3474720"/>
          </a:xfrm>
          <a:prstGeom prst="roundRect">
            <a:avLst>
              <a:gd name="adj" fmla="val 517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1A2E">
                <a:alpha val="12000"/>
              </a:srgbClr>
            </a:outerShdw>
          </a:effectLst>
        </p:spPr>
      </p:sp>
      <p:sp>
        <p:nvSpPr>
          <p:cNvPr id="8" name="Marker swipe"/>
          <p:cNvSpPr/>
          <p:nvPr/>
        </p:nvSpPr>
        <p:spPr>
          <a:xfrm>
            <a:off x="6172200" y="1938528"/>
            <a:ext cx="2011680" cy="2743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line"/>
          <p:cNvSpPr/>
          <p:nvPr/>
        </p:nvSpPr>
        <p:spPr>
          <a:xfrm>
            <a:off x="6172200" y="1325880"/>
            <a:ext cx="2011680" cy="109728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line"/>
          <p:cNvSpPr/>
          <p:nvPr/>
        </p:nvSpPr>
        <p:spPr>
          <a:xfrm>
            <a:off x="6172200" y="1600200"/>
            <a:ext cx="2286000" cy="109728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line"/>
          <p:cNvSpPr/>
          <p:nvPr/>
        </p:nvSpPr>
        <p:spPr>
          <a:xfrm>
            <a:off x="6172200" y="2240280"/>
            <a:ext cx="2103120" cy="109728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line"/>
          <p:cNvSpPr/>
          <p:nvPr/>
        </p:nvSpPr>
        <p:spPr>
          <a:xfrm>
            <a:off x="6172200" y="2514600"/>
            <a:ext cx="1554480" cy="109728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line"/>
          <p:cNvSpPr/>
          <p:nvPr/>
        </p:nvSpPr>
        <p:spPr>
          <a:xfrm>
            <a:off x="6172200" y="2926080"/>
            <a:ext cx="2194560" cy="109728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line"/>
          <p:cNvSpPr/>
          <p:nvPr/>
        </p:nvSpPr>
        <p:spPr>
          <a:xfrm>
            <a:off x="6172200" y="3200400"/>
            <a:ext cx="1828800" cy="109728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Highlighted text"/>
          <p:cNvSpPr/>
          <p:nvPr/>
        </p:nvSpPr>
        <p:spPr>
          <a:xfrm>
            <a:off x="6172200" y="2011680"/>
            <a:ext cx="1463040" cy="109728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Citation 1"/>
          <p:cNvSpPr/>
          <p:nvPr/>
        </p:nvSpPr>
        <p:spPr>
          <a:xfrm>
            <a:off x="7818120" y="192024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18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Source chip"/>
          <p:cNvSpPr/>
          <p:nvPr/>
        </p:nvSpPr>
        <p:spPr>
          <a:xfrm>
            <a:off x="6172200" y="3657600"/>
            <a:ext cx="219456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72200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paper.pdf   p. 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Why papers need an assistant</a:t>
            </a:r>
            <a:endParaRPr lang="en-US" sz="3400" dirty="0"/>
          </a:p>
        </p:txBody>
      </p:sp>
      <p:sp>
        <p:nvSpPr>
          <p:cNvPr id="3" name="Problem card 1"/>
          <p:cNvSpPr/>
          <p:nvPr/>
        </p:nvSpPr>
        <p:spPr>
          <a:xfrm>
            <a:off x="457200" y="1371600"/>
            <a:ext cx="2560320" cy="301752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1A2E">
                <a:alpha val="12000"/>
              </a:srgbClr>
            </a:outerShdw>
          </a:effectLst>
        </p:spPr>
      </p:sp>
      <p:sp>
        <p:nvSpPr>
          <p:cNvPr id="4" name="Icon badge"/>
          <p:cNvSpPr/>
          <p:nvPr/>
        </p:nvSpPr>
        <p:spPr>
          <a:xfrm>
            <a:off x="731520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77393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4688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Papers are long and dense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2004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method, dataset or limitation means scanning many pages across several papers.</a:t>
            </a:r>
            <a:endParaRPr lang="en-US" sz="1400" dirty="0"/>
          </a:p>
        </p:txBody>
      </p:sp>
      <p:sp>
        <p:nvSpPr>
          <p:cNvPr id="8" name="Problem card 2"/>
          <p:cNvSpPr/>
          <p:nvPr/>
        </p:nvSpPr>
        <p:spPr>
          <a:xfrm>
            <a:off x="3291840" y="1371600"/>
            <a:ext cx="2560320" cy="301752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1A2E">
                <a:alpha val="12000"/>
              </a:srgbClr>
            </a:outerShdw>
          </a:effectLst>
        </p:spPr>
      </p:sp>
      <p:sp>
        <p:nvSpPr>
          <p:cNvPr id="9" name="Icon badge"/>
          <p:cNvSpPr/>
          <p:nvPr/>
        </p:nvSpPr>
        <p:spPr>
          <a:xfrm>
            <a:off x="3566160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76" y="177393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4688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 chatbots guess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2004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LLM answers from memory, so it can invent details that the paper never states.</a:t>
            </a:r>
            <a:endParaRPr lang="en-US" sz="1400" dirty="0"/>
          </a:p>
        </p:txBody>
      </p:sp>
      <p:sp>
        <p:nvSpPr>
          <p:cNvPr id="13" name="Problem card 3"/>
          <p:cNvSpPr/>
          <p:nvPr/>
        </p:nvSpPr>
        <p:spPr>
          <a:xfrm>
            <a:off x="6126480" y="1371600"/>
            <a:ext cx="2560320" cy="301752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1A2E">
                <a:alpha val="12000"/>
              </a:srgbClr>
            </a:outerShdw>
          </a:effectLst>
        </p:spPr>
      </p:sp>
      <p:sp>
        <p:nvSpPr>
          <p:cNvPr id="14" name="Icon badge"/>
          <p:cNvSpPr/>
          <p:nvPr/>
        </p:nvSpPr>
        <p:spPr>
          <a:xfrm>
            <a:off x="6400800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177393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4688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 must be checkable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32004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useful answer shows exactly which document and page supports each claim.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is RAG?</a:t>
            </a:r>
            <a:endParaRPr lang="en-US" sz="3400" dirty="0"/>
          </a:p>
        </p:txBody>
      </p:sp>
      <p:sp>
        <p:nvSpPr>
          <p:cNvPr id="3" name="RAG step 1"/>
          <p:cNvSpPr/>
          <p:nvPr/>
        </p:nvSpPr>
        <p:spPr>
          <a:xfrm>
            <a:off x="457200" y="1371600"/>
            <a:ext cx="237744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1A2E">
                <a:alpha val="12000"/>
              </a:srgbClr>
            </a:outerShdw>
          </a:effectLst>
        </p:spPr>
      </p:sp>
      <p:sp>
        <p:nvSpPr>
          <p:cNvPr id="4" name="Badge"/>
          <p:cNvSpPr/>
          <p:nvPr/>
        </p:nvSpPr>
        <p:spPr>
          <a:xfrm>
            <a:off x="68580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70992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66420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774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passages of the uploaded papers that are most similar to the question.</a:t>
            </a:r>
            <a:endParaRPr lang="en-US" sz="1400" dirty="0"/>
          </a:p>
        </p:txBody>
      </p:sp>
      <p:sp>
        <p:nvSpPr>
          <p:cNvPr id="8" name="Arrow"/>
          <p:cNvSpPr/>
          <p:nvPr/>
        </p:nvSpPr>
        <p:spPr>
          <a:xfrm>
            <a:off x="2907792" y="2286000"/>
            <a:ext cx="457200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RAG step 2"/>
          <p:cNvSpPr/>
          <p:nvPr/>
        </p:nvSpPr>
        <p:spPr>
          <a:xfrm>
            <a:off x="3429000" y="1371600"/>
            <a:ext cx="237744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1A2E">
                <a:alpha val="12000"/>
              </a:srgbClr>
            </a:outerShdw>
          </a:effectLst>
        </p:spPr>
      </p:sp>
      <p:sp>
        <p:nvSpPr>
          <p:cNvPr id="10" name="Badge"/>
          <p:cNvSpPr/>
          <p:nvPr/>
        </p:nvSpPr>
        <p:spPr>
          <a:xfrm>
            <a:off x="365760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328" y="17099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343400" y="166420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Augment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3657600" y="23774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those passages into the prompt as numbered excerpts.</a:t>
            </a:r>
            <a:endParaRPr lang="en-US" sz="1400" dirty="0"/>
          </a:p>
        </p:txBody>
      </p:sp>
      <p:sp>
        <p:nvSpPr>
          <p:cNvPr id="14" name="Arrow"/>
          <p:cNvSpPr/>
          <p:nvPr/>
        </p:nvSpPr>
        <p:spPr>
          <a:xfrm>
            <a:off x="5879592" y="2286000"/>
            <a:ext cx="457200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RAG step 3"/>
          <p:cNvSpPr/>
          <p:nvPr/>
        </p:nvSpPr>
        <p:spPr>
          <a:xfrm>
            <a:off x="6400800" y="1371600"/>
            <a:ext cx="237744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1A2E">
                <a:alpha val="12000"/>
              </a:srgbClr>
            </a:outerShdw>
          </a:effectLst>
        </p:spPr>
      </p:sp>
      <p:sp>
        <p:nvSpPr>
          <p:cNvPr id="16" name="Badge"/>
          <p:cNvSpPr/>
          <p:nvPr/>
        </p:nvSpPr>
        <p:spPr>
          <a:xfrm>
            <a:off x="662940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170992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15200" y="166420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6629400" y="23774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writes an answer using only the excerpts and cites them.</a:t>
            </a:r>
            <a:endParaRPr lang="en-US" sz="1400" dirty="0"/>
          </a:p>
        </p:txBody>
      </p:sp>
      <p:sp>
        <p:nvSpPr>
          <p:cNvPr id="20" name="Takeaway"/>
          <p:cNvSpPr/>
          <p:nvPr/>
        </p:nvSpPr>
        <p:spPr>
          <a:xfrm>
            <a:off x="457200" y="3840480"/>
            <a:ext cx="8229600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1A2E">
                <a:alpha val="12000"/>
              </a:srgbClr>
            </a:outerShdw>
          </a:effectLst>
        </p:spPr>
      </p:sp>
      <p:sp>
        <p:nvSpPr>
          <p:cNvPr id="21" name="Text 16"/>
          <p:cNvSpPr txBox="1"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reads your papers at question time instead of relying on its memory.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the assignment asks for</a:t>
            </a:r>
            <a:endParaRPr lang="en-US" sz="3400" dirty="0"/>
          </a:p>
        </p:txBody>
      </p:sp>
      <p:sp>
        <p:nvSpPr>
          <p:cNvPr id="3" name="Requirement 1"/>
          <p:cNvSpPr/>
          <p:nvPr/>
        </p:nvSpPr>
        <p:spPr>
          <a:xfrm>
            <a:off x="457200" y="1280160"/>
            <a:ext cx="402336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1A2E">
                <a:alpha val="12000"/>
              </a:srgbClr>
            </a:outerShdw>
          </a:effectLst>
        </p:spPr>
      </p:sp>
      <p:sp>
        <p:nvSpPr>
          <p:cNvPr id="4" name="Check badge"/>
          <p:cNvSpPr/>
          <p:nvPr/>
        </p:nvSpPr>
        <p:spPr>
          <a:xfrm>
            <a:off x="621792" y="1435608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536192"/>
            <a:ext cx="182880" cy="182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28016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one or many research PDFs</a:t>
            </a:r>
            <a:endParaRPr lang="en-US" sz="1400" dirty="0"/>
          </a:p>
        </p:txBody>
      </p:sp>
      <p:sp>
        <p:nvSpPr>
          <p:cNvPr id="7" name="Requirement 2"/>
          <p:cNvSpPr/>
          <p:nvPr/>
        </p:nvSpPr>
        <p:spPr>
          <a:xfrm>
            <a:off x="4663440" y="1280160"/>
            <a:ext cx="402336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1A2E">
                <a:alpha val="12000"/>
              </a:srgbClr>
            </a:outerShdw>
          </a:effectLst>
        </p:spPr>
      </p:sp>
      <p:sp>
        <p:nvSpPr>
          <p:cNvPr id="8" name="Check badge"/>
          <p:cNvSpPr/>
          <p:nvPr/>
        </p:nvSpPr>
        <p:spPr>
          <a:xfrm>
            <a:off x="4828032" y="1435608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1536192"/>
            <a:ext cx="182880" cy="1828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349240" y="128016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text, chunk, embed, store in a vector DB</a:t>
            </a:r>
            <a:endParaRPr lang="en-US" sz="1400" dirty="0"/>
          </a:p>
        </p:txBody>
      </p:sp>
      <p:sp>
        <p:nvSpPr>
          <p:cNvPr id="11" name="Requirement 3"/>
          <p:cNvSpPr/>
          <p:nvPr/>
        </p:nvSpPr>
        <p:spPr>
          <a:xfrm>
            <a:off x="457200" y="2103120"/>
            <a:ext cx="402336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1A2E">
                <a:alpha val="12000"/>
              </a:srgbClr>
            </a:outerShdw>
          </a:effectLst>
        </p:spPr>
      </p:sp>
      <p:sp>
        <p:nvSpPr>
          <p:cNvPr id="12" name="Check badge"/>
          <p:cNvSpPr/>
          <p:nvPr/>
        </p:nvSpPr>
        <p:spPr>
          <a:xfrm>
            <a:off x="621792" y="2258568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359152"/>
            <a:ext cx="182880" cy="1828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43000" y="21031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 for questions</a:t>
            </a:r>
            <a:endParaRPr lang="en-US" sz="1400" dirty="0"/>
          </a:p>
        </p:txBody>
      </p:sp>
      <p:sp>
        <p:nvSpPr>
          <p:cNvPr id="15" name="Requirement 4"/>
          <p:cNvSpPr/>
          <p:nvPr/>
        </p:nvSpPr>
        <p:spPr>
          <a:xfrm>
            <a:off x="4663440" y="2103120"/>
            <a:ext cx="402336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1A2E">
                <a:alpha val="12000"/>
              </a:srgbClr>
            </a:outerShdw>
          </a:effectLst>
        </p:spPr>
      </p:sp>
      <p:sp>
        <p:nvSpPr>
          <p:cNvPr id="16" name="Check badge"/>
          <p:cNvSpPr/>
          <p:nvPr/>
        </p:nvSpPr>
        <p:spPr>
          <a:xfrm>
            <a:off x="4828032" y="2258568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2359152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49240" y="21031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context before answering</a:t>
            </a:r>
            <a:endParaRPr lang="en-US" sz="1400" dirty="0"/>
          </a:p>
        </p:txBody>
      </p:sp>
      <p:sp>
        <p:nvSpPr>
          <p:cNvPr id="19" name="Requirement 5"/>
          <p:cNvSpPr/>
          <p:nvPr/>
        </p:nvSpPr>
        <p:spPr>
          <a:xfrm>
            <a:off x="457200" y="2926080"/>
            <a:ext cx="402336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1A2E">
                <a:alpha val="12000"/>
              </a:srgbClr>
            </a:outerShdw>
          </a:effectLst>
        </p:spPr>
      </p:sp>
      <p:sp>
        <p:nvSpPr>
          <p:cNvPr id="20" name="Check badge"/>
          <p:cNvSpPr/>
          <p:nvPr/>
        </p:nvSpPr>
        <p:spPr>
          <a:xfrm>
            <a:off x="621792" y="3081528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3182112"/>
            <a:ext cx="182880" cy="1828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43000" y="29260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source document and page number</a:t>
            </a:r>
            <a:endParaRPr lang="en-US" sz="1400" dirty="0"/>
          </a:p>
        </p:txBody>
      </p:sp>
      <p:sp>
        <p:nvSpPr>
          <p:cNvPr id="23" name="Requirement 6"/>
          <p:cNvSpPr/>
          <p:nvPr/>
        </p:nvSpPr>
        <p:spPr>
          <a:xfrm>
            <a:off x="4663440" y="2926080"/>
            <a:ext cx="402336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1A2E">
                <a:alpha val="12000"/>
              </a:srgbClr>
            </a:outerShdw>
          </a:effectLst>
        </p:spPr>
      </p:sp>
      <p:sp>
        <p:nvSpPr>
          <p:cNvPr id="24" name="Check badge"/>
          <p:cNvSpPr/>
          <p:nvPr/>
        </p:nvSpPr>
        <p:spPr>
          <a:xfrm>
            <a:off x="4828032" y="3081528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8616" y="3182112"/>
            <a:ext cx="182880" cy="18288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349240" y="29260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empty, missing and invalid input</a:t>
            </a:r>
            <a:endParaRPr lang="en-US" sz="1400" dirty="0"/>
          </a:p>
        </p:txBody>
      </p:sp>
      <p:sp>
        <p:nvSpPr>
          <p:cNvPr id="27" name="Requirement 7"/>
          <p:cNvSpPr/>
          <p:nvPr/>
        </p:nvSpPr>
        <p:spPr>
          <a:xfrm>
            <a:off x="457200" y="3749040"/>
            <a:ext cx="402336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1A2E">
                <a:alpha val="12000"/>
              </a:srgbClr>
            </a:outerShdw>
          </a:effectLst>
        </p:spPr>
      </p:sp>
      <p:sp>
        <p:nvSpPr>
          <p:cNvPr id="28" name="Check badge"/>
          <p:cNvSpPr/>
          <p:nvPr/>
        </p:nvSpPr>
        <p:spPr>
          <a:xfrm>
            <a:off x="621792" y="3904488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" y="4005072"/>
            <a:ext cx="182880" cy="18288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143000" y="374904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only from the uploaded papers</a:t>
            </a:r>
            <a:endParaRPr lang="en-US" sz="1400" dirty="0"/>
          </a:p>
        </p:txBody>
      </p:sp>
      <p:sp>
        <p:nvSpPr>
          <p:cNvPr id="31" name="Requirement 8"/>
          <p:cNvSpPr/>
          <p:nvPr/>
        </p:nvSpPr>
        <p:spPr>
          <a:xfrm>
            <a:off x="4663440" y="3749040"/>
            <a:ext cx="402336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1A2E">
                <a:alpha val="12000"/>
              </a:srgbClr>
            </a:outerShdw>
          </a:effectLst>
        </p:spPr>
      </p:sp>
      <p:sp>
        <p:nvSpPr>
          <p:cNvPr id="32" name="Check badge"/>
          <p:cNvSpPr/>
          <p:nvPr/>
        </p:nvSpPr>
        <p:spPr>
          <a:xfrm>
            <a:off x="4828032" y="3904488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8616" y="4005072"/>
            <a:ext cx="182880" cy="18288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5349240" y="374904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FastAPI, LangChain, ChromaDB, Gemini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Technology stack</a:t>
            </a:r>
            <a:endParaRPr lang="en-US" sz="3400" dirty="0"/>
          </a:p>
        </p:txBody>
      </p:sp>
      <p:sp>
        <p:nvSpPr>
          <p:cNvPr id="3" name="Stack card 1"/>
          <p:cNvSpPr/>
          <p:nvPr/>
        </p:nvSpPr>
        <p:spPr>
          <a:xfrm>
            <a:off x="457200" y="1371600"/>
            <a:ext cx="1554480" cy="29260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1A2E">
                <a:alpha val="12000"/>
              </a:srgbClr>
            </a:outerShdw>
          </a:effectLst>
        </p:spPr>
      </p:sp>
      <p:sp>
        <p:nvSpPr>
          <p:cNvPr id="4" name="Badge"/>
          <p:cNvSpPr/>
          <p:nvPr/>
        </p:nvSpPr>
        <p:spPr>
          <a:xfrm>
            <a:off x="868680" y="16459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17922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25603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310896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REST API: upload, list, delete, chat.</a:t>
            </a:r>
            <a:endParaRPr lang="en-US" sz="1300" dirty="0"/>
          </a:p>
        </p:txBody>
      </p:sp>
      <p:sp>
        <p:nvSpPr>
          <p:cNvPr id="8" name="Stack card 2"/>
          <p:cNvSpPr/>
          <p:nvPr/>
        </p:nvSpPr>
        <p:spPr>
          <a:xfrm>
            <a:off x="2121408" y="1371600"/>
            <a:ext cx="1554480" cy="29260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1A2E">
                <a:alpha val="12000"/>
              </a:srgbClr>
            </a:outerShdw>
          </a:effectLst>
        </p:spPr>
      </p:sp>
      <p:sp>
        <p:nvSpPr>
          <p:cNvPr id="9" name="Badge"/>
          <p:cNvSpPr/>
          <p:nvPr/>
        </p:nvSpPr>
        <p:spPr>
          <a:xfrm>
            <a:off x="2532888" y="16459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192" y="1792224"/>
            <a:ext cx="438912" cy="43891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258568" y="25603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258568" y="310896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splitting, prompts and the Chroma integration.</a:t>
            </a:r>
            <a:endParaRPr lang="en-US" sz="1300" dirty="0"/>
          </a:p>
        </p:txBody>
      </p:sp>
      <p:sp>
        <p:nvSpPr>
          <p:cNvPr id="13" name="Stack card 3"/>
          <p:cNvSpPr/>
          <p:nvPr/>
        </p:nvSpPr>
        <p:spPr>
          <a:xfrm>
            <a:off x="3785616" y="1371600"/>
            <a:ext cx="1554480" cy="29260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1A2E">
                <a:alpha val="12000"/>
              </a:srgbClr>
            </a:outerShdw>
          </a:effectLst>
        </p:spPr>
      </p:sp>
      <p:sp>
        <p:nvSpPr>
          <p:cNvPr id="14" name="Badge"/>
          <p:cNvSpPr/>
          <p:nvPr/>
        </p:nvSpPr>
        <p:spPr>
          <a:xfrm>
            <a:off x="4197096" y="16459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792224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922776" y="25603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ChromaDB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922776" y="310896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vector store with cosine similarity.</a:t>
            </a:r>
            <a:endParaRPr lang="en-US" sz="1300" dirty="0"/>
          </a:p>
        </p:txBody>
      </p:sp>
      <p:sp>
        <p:nvSpPr>
          <p:cNvPr id="18" name="Stack card 4"/>
          <p:cNvSpPr/>
          <p:nvPr/>
        </p:nvSpPr>
        <p:spPr>
          <a:xfrm>
            <a:off x="5449824" y="1371600"/>
            <a:ext cx="1554480" cy="29260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1A2E">
                <a:alpha val="12000"/>
              </a:srgbClr>
            </a:outerShdw>
          </a:effectLst>
        </p:spPr>
      </p:sp>
      <p:sp>
        <p:nvSpPr>
          <p:cNvPr id="19" name="Badge"/>
          <p:cNvSpPr/>
          <p:nvPr/>
        </p:nvSpPr>
        <p:spPr>
          <a:xfrm>
            <a:off x="5861304" y="16459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608" y="1792224"/>
            <a:ext cx="438912" cy="43891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86984" y="25603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586984" y="310896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and answer generation.</a:t>
            </a:r>
            <a:endParaRPr lang="en-US" sz="1300" dirty="0"/>
          </a:p>
        </p:txBody>
      </p:sp>
      <p:sp>
        <p:nvSpPr>
          <p:cNvPr id="23" name="Stack card 5"/>
          <p:cNvSpPr/>
          <p:nvPr/>
        </p:nvSpPr>
        <p:spPr>
          <a:xfrm>
            <a:off x="7114032" y="1371600"/>
            <a:ext cx="1554480" cy="29260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1A2E">
                <a:alpha val="12000"/>
              </a:srgbClr>
            </a:outerShdw>
          </a:effectLst>
        </p:spPr>
      </p:sp>
      <p:sp>
        <p:nvSpPr>
          <p:cNvPr id="24" name="Badge"/>
          <p:cNvSpPr/>
          <p:nvPr/>
        </p:nvSpPr>
        <p:spPr>
          <a:xfrm>
            <a:off x="7525512" y="16459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1816" y="1792224"/>
            <a:ext cx="438912" cy="43891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251192" y="25603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HTML, CSS, JS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7251192" y="310896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frontend served by FastAPI.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System architecture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 paper is uploaded</a:t>
            </a:r>
            <a:endParaRPr lang="en-US" sz="1600" dirty="0"/>
          </a:p>
        </p:txBody>
      </p:sp>
      <p:sp>
        <p:nvSpPr>
          <p:cNvPr id="4" name="Flow box"/>
          <p:cNvSpPr/>
          <p:nvPr/>
        </p:nvSpPr>
        <p:spPr>
          <a:xfrm>
            <a:off x="457200" y="1737360"/>
            <a:ext cx="146304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71A2E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828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94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7" name="Arrow"/>
          <p:cNvSpPr/>
          <p:nvPr/>
        </p:nvSpPr>
        <p:spPr>
          <a:xfrm>
            <a:off x="1956816" y="2103120"/>
            <a:ext cx="182880" cy="1828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Flow box"/>
          <p:cNvSpPr/>
          <p:nvPr/>
        </p:nvSpPr>
        <p:spPr>
          <a:xfrm>
            <a:off x="2148840" y="1737360"/>
            <a:ext cx="146304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71A2E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148840" y="1828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148840" y="2194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by page</a:t>
            </a:r>
            <a:endParaRPr lang="en-US" sz="1200" dirty="0"/>
          </a:p>
        </p:txBody>
      </p:sp>
      <p:sp>
        <p:nvSpPr>
          <p:cNvPr id="11" name="Arrow"/>
          <p:cNvSpPr/>
          <p:nvPr/>
        </p:nvSpPr>
        <p:spPr>
          <a:xfrm>
            <a:off x="3648456" y="2103120"/>
            <a:ext cx="182880" cy="1828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Flow box"/>
          <p:cNvSpPr/>
          <p:nvPr/>
        </p:nvSpPr>
        <p:spPr>
          <a:xfrm>
            <a:off x="3840480" y="1737360"/>
            <a:ext cx="146304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71A2E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840480" y="1828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2194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/ 150</a:t>
            </a:r>
            <a:endParaRPr lang="en-US" sz="1200" dirty="0"/>
          </a:p>
        </p:txBody>
      </p:sp>
      <p:sp>
        <p:nvSpPr>
          <p:cNvPr id="15" name="Arrow"/>
          <p:cNvSpPr/>
          <p:nvPr/>
        </p:nvSpPr>
        <p:spPr>
          <a:xfrm>
            <a:off x="5340096" y="2103120"/>
            <a:ext cx="182880" cy="1828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Flow box"/>
          <p:cNvSpPr/>
          <p:nvPr/>
        </p:nvSpPr>
        <p:spPr>
          <a:xfrm>
            <a:off x="5532120" y="1737360"/>
            <a:ext cx="146304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71A2E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532120" y="1828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532120" y="2194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200" dirty="0"/>
          </a:p>
        </p:txBody>
      </p:sp>
      <p:sp>
        <p:nvSpPr>
          <p:cNvPr id="19" name="Arrow"/>
          <p:cNvSpPr/>
          <p:nvPr/>
        </p:nvSpPr>
        <p:spPr>
          <a:xfrm>
            <a:off x="7031736" y="2103120"/>
            <a:ext cx="182880" cy="1828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Flow box"/>
          <p:cNvSpPr/>
          <p:nvPr/>
        </p:nvSpPr>
        <p:spPr>
          <a:xfrm>
            <a:off x="7223760" y="1737360"/>
            <a:ext cx="1463040" cy="91440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171A2E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223760" y="1828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2194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+ page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017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 question is asked</a:t>
            </a:r>
            <a:endParaRPr lang="en-US" sz="1600" dirty="0"/>
          </a:p>
        </p:txBody>
      </p:sp>
      <p:sp>
        <p:nvSpPr>
          <p:cNvPr id="24" name="Flow box"/>
          <p:cNvSpPr/>
          <p:nvPr/>
        </p:nvSpPr>
        <p:spPr>
          <a:xfrm>
            <a:off x="457200" y="3429000"/>
            <a:ext cx="146304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71A2E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457200" y="3520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886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history</a:t>
            </a:r>
            <a:endParaRPr lang="en-US" sz="1200" dirty="0"/>
          </a:p>
        </p:txBody>
      </p:sp>
      <p:sp>
        <p:nvSpPr>
          <p:cNvPr id="27" name="Arrow"/>
          <p:cNvSpPr/>
          <p:nvPr/>
        </p:nvSpPr>
        <p:spPr>
          <a:xfrm>
            <a:off x="1956816" y="3794760"/>
            <a:ext cx="182880" cy="1828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8" name="Flow box"/>
          <p:cNvSpPr/>
          <p:nvPr/>
        </p:nvSpPr>
        <p:spPr>
          <a:xfrm>
            <a:off x="2148840" y="3429000"/>
            <a:ext cx="146304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71A2E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2148840" y="3520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2148840" y="3886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vector</a:t>
            </a:r>
            <a:endParaRPr lang="en-US" sz="1200" dirty="0"/>
          </a:p>
        </p:txBody>
      </p:sp>
      <p:sp>
        <p:nvSpPr>
          <p:cNvPr id="31" name="Arrow"/>
          <p:cNvSpPr/>
          <p:nvPr/>
        </p:nvSpPr>
        <p:spPr>
          <a:xfrm>
            <a:off x="3648456" y="3794760"/>
            <a:ext cx="182880" cy="1828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2" name="Flow box"/>
          <p:cNvSpPr/>
          <p:nvPr/>
        </p:nvSpPr>
        <p:spPr>
          <a:xfrm>
            <a:off x="3840480" y="3429000"/>
            <a:ext cx="146304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71A2E">
                <a:alpha val="12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3840480" y="3520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3840480" y="3886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chunks</a:t>
            </a:r>
            <a:endParaRPr lang="en-US" sz="1200" dirty="0"/>
          </a:p>
        </p:txBody>
      </p:sp>
      <p:sp>
        <p:nvSpPr>
          <p:cNvPr id="35" name="Arrow"/>
          <p:cNvSpPr/>
          <p:nvPr/>
        </p:nvSpPr>
        <p:spPr>
          <a:xfrm>
            <a:off x="5340096" y="3794760"/>
            <a:ext cx="182880" cy="1828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6" name="Flow box"/>
          <p:cNvSpPr/>
          <p:nvPr/>
        </p:nvSpPr>
        <p:spPr>
          <a:xfrm>
            <a:off x="5532120" y="3429000"/>
            <a:ext cx="146304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71A2E">
                <a:alpha val="12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5532120" y="3520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5532120" y="3886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prompt</a:t>
            </a:r>
            <a:endParaRPr lang="en-US" sz="1200" dirty="0"/>
          </a:p>
        </p:txBody>
      </p:sp>
      <p:sp>
        <p:nvSpPr>
          <p:cNvPr id="39" name="Arrow"/>
          <p:cNvSpPr/>
          <p:nvPr/>
        </p:nvSpPr>
        <p:spPr>
          <a:xfrm>
            <a:off x="7031736" y="3794760"/>
            <a:ext cx="182880" cy="1828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0" name="Flow box"/>
          <p:cNvSpPr/>
          <p:nvPr/>
        </p:nvSpPr>
        <p:spPr>
          <a:xfrm>
            <a:off x="7223760" y="3429000"/>
            <a:ext cx="1463040" cy="91440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171A2E">
                <a:alpha val="12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7223760" y="3520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7223760" y="3886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sources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Turning a PDF into searchable chunks</a:t>
            </a:r>
            <a:endParaRPr lang="en-US" sz="3400" dirty="0"/>
          </a:p>
        </p:txBody>
      </p:sp>
      <p:sp>
        <p:nvSpPr>
          <p:cNvPr id="3" name="Step badge"/>
          <p:cNvSpPr/>
          <p:nvPr/>
        </p:nvSpPr>
        <p:spPr>
          <a:xfrm>
            <a:off x="45720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5727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Extension, %PDF header, size limit, empty file.</a:t>
            </a:r>
            <a:endParaRPr lang="en-US" sz="1400" dirty="0"/>
          </a:p>
        </p:txBody>
      </p:sp>
      <p:sp>
        <p:nvSpPr>
          <p:cNvPr id="7" name="Step badge"/>
          <p:cNvSpPr/>
          <p:nvPr/>
        </p:nvSpPr>
        <p:spPr>
          <a:xfrm>
            <a:off x="457200" y="21031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057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3500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reads every page and cleans the text.</a:t>
            </a:r>
            <a:endParaRPr lang="en-US" sz="1400" dirty="0"/>
          </a:p>
        </p:txBody>
      </p:sp>
      <p:sp>
        <p:nvSpPr>
          <p:cNvPr id="11" name="Step badge"/>
          <p:cNvSpPr/>
          <p:nvPr/>
        </p:nvSpPr>
        <p:spPr>
          <a:xfrm>
            <a:off x="457200" y="28803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1272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characters with 150 overlap, split per page.</a:t>
            </a:r>
            <a:endParaRPr lang="en-US" sz="1400" dirty="0"/>
          </a:p>
        </p:txBody>
      </p:sp>
      <p:sp>
        <p:nvSpPr>
          <p:cNvPr id="15" name="Step badge"/>
          <p:cNvSpPr/>
          <p:nvPr/>
        </p:nvSpPr>
        <p:spPr>
          <a:xfrm>
            <a:off x="457200" y="3657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611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 and store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9044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of 32 with retry, saved in ChromaDB.</a:t>
            </a:r>
            <a:endParaRPr lang="en-US" sz="1400" dirty="0"/>
          </a:p>
        </p:txBody>
      </p:sp>
      <p:sp>
        <p:nvSpPr>
          <p:cNvPr id="19" name="Chunk metadata card"/>
          <p:cNvSpPr/>
          <p:nvPr/>
        </p:nvSpPr>
        <p:spPr>
          <a:xfrm>
            <a:off x="5029200" y="1371600"/>
            <a:ext cx="3657600" cy="2926080"/>
          </a:xfrm>
          <a:prstGeom prst="roundRect">
            <a:avLst>
              <a:gd name="adj" fmla="val 375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171A2E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303520" y="1554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with every chunk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20116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DADD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E3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"paper.pdf"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DADD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E3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DADD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chunk_index: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E3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DADD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doc_id: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E3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"a1b2c3d4e5f6"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3520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numbers come from this metadata, never from the model.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Retrieval and grounded answers</a:t>
            </a:r>
            <a:endParaRPr lang="en-US" sz="3400" dirty="0"/>
          </a:p>
        </p:txBody>
      </p:sp>
      <p:sp>
        <p:nvSpPr>
          <p:cNvPr id="3" name="Answering card 1"/>
          <p:cNvSpPr/>
          <p:nvPr/>
        </p:nvSpPr>
        <p:spPr>
          <a:xfrm>
            <a:off x="457200" y="128016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1A2E">
                <a:alpha val="12000"/>
              </a:srgbClr>
            </a:outerShdw>
          </a:effectLst>
        </p:spPr>
      </p:sp>
      <p:sp>
        <p:nvSpPr>
          <p:cNvPr id="4" name="Badge"/>
          <p:cNvSpPr/>
          <p:nvPr/>
        </p:nvSpPr>
        <p:spPr>
          <a:xfrm>
            <a:off x="685800" y="1508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6184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463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 first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8288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Top-8 passages, filtered to the papers you ticked. Each paper gets its share when several are selected.</a:t>
            </a:r>
            <a:endParaRPr lang="en-US" sz="1300" dirty="0"/>
          </a:p>
        </p:txBody>
      </p:sp>
      <p:sp>
        <p:nvSpPr>
          <p:cNvPr id="8" name="Answering card 2"/>
          <p:cNvSpPr/>
          <p:nvPr/>
        </p:nvSpPr>
        <p:spPr>
          <a:xfrm>
            <a:off x="4663440" y="128016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1A2E">
                <a:alpha val="12000"/>
              </a:srgbClr>
            </a:outerShdw>
          </a:effectLst>
        </p:spPr>
      </p:sp>
      <p:sp>
        <p:nvSpPr>
          <p:cNvPr id="9" name="Badge"/>
          <p:cNvSpPr/>
          <p:nvPr/>
        </p:nvSpPr>
        <p:spPr>
          <a:xfrm>
            <a:off x="4892040" y="1508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61848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69280" y="1463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Summaries get coverage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5669280" y="18288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questions sample passages across the whole paper, from introduction to conclusion.</a:t>
            </a:r>
            <a:endParaRPr lang="en-US" sz="1300" dirty="0"/>
          </a:p>
        </p:txBody>
      </p:sp>
      <p:sp>
        <p:nvSpPr>
          <p:cNvPr id="13" name="Answering card 3"/>
          <p:cNvSpPr/>
          <p:nvPr/>
        </p:nvSpPr>
        <p:spPr>
          <a:xfrm>
            <a:off x="457200" y="292608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1A2E">
                <a:alpha val="12000"/>
              </a:srgbClr>
            </a:outerShdw>
          </a:effectLst>
        </p:spPr>
      </p:sp>
      <p:sp>
        <p:nvSpPr>
          <p:cNvPr id="14" name="Badge"/>
          <p:cNvSpPr/>
          <p:nvPr/>
        </p:nvSpPr>
        <p:spPr>
          <a:xfrm>
            <a:off x="685800" y="31546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26440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3108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Strict prompt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34747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the excerpts, cite with [n], never add outside knowledge.</a:t>
            </a:r>
            <a:endParaRPr lang="en-US" sz="1300" dirty="0"/>
          </a:p>
        </p:txBody>
      </p:sp>
      <p:sp>
        <p:nvSpPr>
          <p:cNvPr id="18" name="Answering card 4"/>
          <p:cNvSpPr/>
          <p:nvPr/>
        </p:nvSpPr>
        <p:spPr>
          <a:xfrm>
            <a:off x="4663440" y="292608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1A2E">
                <a:alpha val="12000"/>
              </a:srgbClr>
            </a:outerShdw>
          </a:effectLst>
        </p:spPr>
      </p:sp>
      <p:sp>
        <p:nvSpPr>
          <p:cNvPr id="19" name="Badge"/>
          <p:cNvSpPr/>
          <p:nvPr/>
        </p:nvSpPr>
        <p:spPr>
          <a:xfrm>
            <a:off x="4892040" y="31546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3264408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69280" y="3108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not-found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5669280" y="34747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excerpts do not cover it, the answer is: not available in the uploaded documents.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Every answer cites its source</a:t>
            </a:r>
            <a:endParaRPr lang="en-US" sz="3400" dirty="0"/>
          </a:p>
        </p:txBody>
      </p:sp>
      <p:sp>
        <p:nvSpPr>
          <p:cNvPr id="3" name="Answer mock"/>
          <p:cNvSpPr/>
          <p:nvPr/>
        </p:nvSpPr>
        <p:spPr>
          <a:xfrm>
            <a:off x="457200" y="1280160"/>
            <a:ext cx="4572000" cy="3108960"/>
          </a:xfrm>
          <a:prstGeom prst="roundRect">
            <a:avLst>
              <a:gd name="adj" fmla="val 35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1A2E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methodology is used?</a:t>
            </a:r>
            <a:endParaRPr lang="en-US" sz="1400" dirty="0"/>
          </a:p>
        </p:txBody>
      </p:sp>
      <p:sp>
        <p:nvSpPr>
          <p:cNvPr id="5" name="Answer line"/>
          <p:cNvSpPr/>
          <p:nvPr/>
        </p:nvSpPr>
        <p:spPr>
          <a:xfrm>
            <a:off x="731520" y="1920240"/>
            <a:ext cx="3840480" cy="11887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Answer line"/>
          <p:cNvSpPr/>
          <p:nvPr/>
        </p:nvSpPr>
        <p:spPr>
          <a:xfrm>
            <a:off x="731520" y="2194560"/>
            <a:ext cx="3657600" cy="11887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Answer line"/>
          <p:cNvSpPr/>
          <p:nvPr/>
        </p:nvSpPr>
        <p:spPr>
          <a:xfrm>
            <a:off x="731520" y="2468880"/>
            <a:ext cx="2926080" cy="11887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Citation 1"/>
          <p:cNvSpPr/>
          <p:nvPr/>
        </p:nvSpPr>
        <p:spPr>
          <a:xfrm>
            <a:off x="3749040" y="2414016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49040" y="24140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108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00" dirty="0"/>
          </a:p>
        </p:txBody>
      </p:sp>
      <p:sp>
        <p:nvSpPr>
          <p:cNvPr id="11" name="Source chip"/>
          <p:cNvSpPr/>
          <p:nvPr/>
        </p:nvSpPr>
        <p:spPr>
          <a:xfrm>
            <a:off x="1463040" y="3090672"/>
            <a:ext cx="2560320" cy="329184"/>
          </a:xfrm>
          <a:prstGeom prst="roundRect">
            <a:avLst>
              <a:gd name="adj" fmla="val 27778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600200" y="309067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resnet_study.pdf</a:t>
            </a:r>
            <a:endParaRPr lang="en-US" sz="1200" dirty="0"/>
          </a:p>
        </p:txBody>
      </p:sp>
      <p:sp>
        <p:nvSpPr>
          <p:cNvPr id="13" name="Page marker"/>
          <p:cNvSpPr/>
          <p:nvPr/>
        </p:nvSpPr>
        <p:spPr>
          <a:xfrm>
            <a:off x="3383280" y="3163824"/>
            <a:ext cx="530352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83280" y="316382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4</a:t>
            </a:r>
            <a:endParaRPr lang="en-US" sz="1100" dirty="0"/>
          </a:p>
        </p:txBody>
      </p:sp>
      <p:sp>
        <p:nvSpPr>
          <p:cNvPr id="15" name="Evidence box"/>
          <p:cNvSpPr/>
          <p:nvPr/>
        </p:nvSpPr>
        <p:spPr>
          <a:xfrm>
            <a:off x="731520" y="3611880"/>
            <a:ext cx="4023360" cy="594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Highlighted passage"/>
          <p:cNvSpPr/>
          <p:nvPr/>
        </p:nvSpPr>
        <p:spPr>
          <a:xfrm>
            <a:off x="822960" y="3767328"/>
            <a:ext cx="3657600" cy="25603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767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passage, highlighted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cites numbers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writes [1], [2] next to each claim.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maps the numbers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27432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[n] becomes file name, page and passage from stored metadata.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3429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to verify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37947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a source shows the exact retrieved text.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Handled gracefully</a:t>
            </a:r>
            <a:endParaRPr lang="en-US" sz="3400" dirty="0"/>
          </a:p>
        </p:txBody>
      </p:sp>
      <p:graphicFrame>
        <p:nvGraphicFramePr>
          <p:cNvPr id="11" name="Error handling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52120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user sees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7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document uploaded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Friendly message; asking is blocked until a PDF is added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7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question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a question first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7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Unsupported or fake PDF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That file is rejected with the reason; others still upload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7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Scanned, corrupt or locked PDF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error; nothing is stored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7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not in the papers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available in the uploaded documents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7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API key or rate limit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Actionable message instead of a crash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interface</a:t>
            </a:r>
            <a:endParaRPr lang="en-US" sz="3400" dirty="0"/>
          </a:p>
        </p:txBody>
      </p:sp>
      <p:pic>
        <p:nvPicPr>
          <p:cNvPr id="3" name="Image 0" descr="Interface preview: an answer with citations and a highlighted source pass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029200" cy="3035808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71A2E">
                <a:alpha val="12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57200" y="437083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preview with demo data</a:t>
            </a:r>
            <a:endParaRPr lang="en-US" sz="1000" dirty="0"/>
          </a:p>
        </p:txBody>
      </p:sp>
      <p:sp>
        <p:nvSpPr>
          <p:cNvPr id="5" name="Badge"/>
          <p:cNvSpPr/>
          <p:nvPr/>
        </p:nvSpPr>
        <p:spPr>
          <a:xfrm>
            <a:off x="5806440" y="12801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565" y="1364285"/>
            <a:ext cx="252374" cy="25237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382512" y="128016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and drop several PDFs</a:t>
            </a:r>
            <a:endParaRPr lang="en-US" sz="1400" dirty="0"/>
          </a:p>
        </p:txBody>
      </p:sp>
      <p:sp>
        <p:nvSpPr>
          <p:cNvPr id="8" name="Badge"/>
          <p:cNvSpPr/>
          <p:nvPr/>
        </p:nvSpPr>
        <p:spPr>
          <a:xfrm>
            <a:off x="5806440" y="190195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565" y="1986077"/>
            <a:ext cx="252374" cy="25237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382512" y="1901952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which papers to ask about</a:t>
            </a:r>
            <a:endParaRPr lang="en-US" sz="1400" dirty="0"/>
          </a:p>
        </p:txBody>
      </p:sp>
      <p:sp>
        <p:nvSpPr>
          <p:cNvPr id="11" name="Badge"/>
          <p:cNvSpPr/>
          <p:nvPr/>
        </p:nvSpPr>
        <p:spPr>
          <a:xfrm>
            <a:off x="5806440" y="252374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0565" y="2607869"/>
            <a:ext cx="252374" cy="25237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382512" y="2523744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starter questions</a:t>
            </a:r>
            <a:endParaRPr lang="en-US" sz="1400" dirty="0"/>
          </a:p>
        </p:txBody>
      </p:sp>
      <p:sp>
        <p:nvSpPr>
          <p:cNvPr id="14" name="Badge"/>
          <p:cNvSpPr/>
          <p:nvPr/>
        </p:nvSpPr>
        <p:spPr>
          <a:xfrm>
            <a:off x="5806440" y="314553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0565" y="3229661"/>
            <a:ext cx="252374" cy="252374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6382512" y="3145536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citation to see the passage</a:t>
            </a:r>
            <a:endParaRPr lang="en-US" sz="1400" dirty="0"/>
          </a:p>
        </p:txBody>
      </p:sp>
      <p:sp>
        <p:nvSpPr>
          <p:cNvPr id="17" name="Badge"/>
          <p:cNvSpPr/>
          <p:nvPr/>
        </p:nvSpPr>
        <p:spPr>
          <a:xfrm>
            <a:off x="5806440" y="376732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0565" y="3851453"/>
            <a:ext cx="252374" cy="252374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6382512" y="376732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phones too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Testing</a:t>
            </a:r>
            <a:endParaRPr lang="en-US" sz="3400" dirty="0"/>
          </a:p>
        </p:txBody>
      </p:sp>
      <p:sp>
        <p:nvSpPr>
          <p:cNvPr id="3" name="Stat card"/>
          <p:cNvSpPr/>
          <p:nvPr/>
        </p:nvSpPr>
        <p:spPr>
          <a:xfrm>
            <a:off x="457200" y="1371600"/>
            <a:ext cx="3108960" cy="2926080"/>
          </a:xfrm>
          <a:prstGeom prst="roundRect">
            <a:avLst>
              <a:gd name="adj" fmla="val 375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1A2E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6459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926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tests, all passing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611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Offline: fake embeddings and a fake LLM</a:t>
            </a:r>
            <a:endParaRPr lang="en-US" sz="1300" dirty="0"/>
          </a:p>
        </p:txBody>
      </p:sp>
      <p:sp>
        <p:nvSpPr>
          <p:cNvPr id="7" name="Badge"/>
          <p:cNvSpPr/>
          <p:nvPr/>
        </p:nvSpPr>
        <p:spPr>
          <a:xfrm>
            <a:off x="3931920" y="141732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5072" y="1490472"/>
            <a:ext cx="164592" cy="16459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434840" y="137160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validation: wrong type, fake PDF, corrupt PDF</a:t>
            </a:r>
            <a:endParaRPr lang="en-US" sz="1400" dirty="0"/>
          </a:p>
        </p:txBody>
      </p:sp>
      <p:sp>
        <p:nvSpPr>
          <p:cNvPr id="10" name="Badge"/>
          <p:cNvSpPr/>
          <p:nvPr/>
        </p:nvSpPr>
        <p:spPr>
          <a:xfrm>
            <a:off x="3931920" y="192024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993392"/>
            <a:ext cx="164592" cy="16459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34840" y="187452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file name and page in every source</a:t>
            </a:r>
            <a:endParaRPr lang="en-US" sz="1400" dirty="0"/>
          </a:p>
        </p:txBody>
      </p:sp>
      <p:sp>
        <p:nvSpPr>
          <p:cNvPr id="13" name="Badge"/>
          <p:cNvSpPr/>
          <p:nvPr/>
        </p:nvSpPr>
        <p:spPr>
          <a:xfrm>
            <a:off x="3931920" y="242316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072" y="2496312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434840" y="237744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requests read the whole paper</a:t>
            </a:r>
            <a:endParaRPr lang="en-US" sz="1400" dirty="0"/>
          </a:p>
        </p:txBody>
      </p:sp>
      <p:sp>
        <p:nvSpPr>
          <p:cNvPr id="16" name="Badge"/>
          <p:cNvSpPr/>
          <p:nvPr/>
        </p:nvSpPr>
        <p:spPr>
          <a:xfrm>
            <a:off x="3931920" y="292608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5072" y="2999232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434840" y="288036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Not-found answers return no sources</a:t>
            </a:r>
            <a:endParaRPr lang="en-US" sz="1400" dirty="0"/>
          </a:p>
        </p:txBody>
      </p:sp>
      <p:sp>
        <p:nvSpPr>
          <p:cNvPr id="19" name="Badge"/>
          <p:cNvSpPr/>
          <p:nvPr/>
        </p:nvSpPr>
        <p:spPr>
          <a:xfrm>
            <a:off x="3931920" y="342900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5072" y="3502152"/>
            <a:ext cx="164592" cy="16459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434840" y="338328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Duplicates, deletion and multi-paper selection</a:t>
            </a:r>
            <a:endParaRPr lang="en-US" sz="1400" dirty="0"/>
          </a:p>
        </p:txBody>
      </p:sp>
      <p:sp>
        <p:nvSpPr>
          <p:cNvPr id="22" name="Badge"/>
          <p:cNvSpPr/>
          <p:nvPr/>
        </p:nvSpPr>
        <p:spPr>
          <a:xfrm>
            <a:off x="3931920" y="393192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5072" y="4005072"/>
            <a:ext cx="164592" cy="16459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4434840" y="388620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questions and missing API key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Limitations and future work</a:t>
            </a:r>
            <a:endParaRPr lang="en-US" sz="3400" dirty="0"/>
          </a:p>
        </p:txBody>
      </p:sp>
      <p:sp>
        <p:nvSpPr>
          <p:cNvPr id="3" name="Limitations card"/>
          <p:cNvSpPr/>
          <p:nvPr/>
        </p:nvSpPr>
        <p:spPr>
          <a:xfrm>
            <a:off x="457200" y="1280160"/>
            <a:ext cx="4023360" cy="3108960"/>
          </a:xfrm>
          <a:prstGeom prst="roundRect">
            <a:avLst>
              <a:gd name="adj" fmla="val 35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1A2E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Scanned PDFs need OCR, which is not included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Tables and equations can lose their layout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Free-tier rate limits slow very large papers</a:t>
            </a:r>
            <a:endParaRPr lang="en-US" sz="1500" dirty="0"/>
          </a:p>
        </p:txBody>
      </p:sp>
      <p:sp>
        <p:nvSpPr>
          <p:cNvPr id="6" name="Future work card"/>
          <p:cNvSpPr/>
          <p:nvPr/>
        </p:nvSpPr>
        <p:spPr>
          <a:xfrm>
            <a:off x="4663440" y="1280160"/>
            <a:ext cx="4023360" cy="3108960"/>
          </a:xfrm>
          <a:prstGeom prst="roundRect">
            <a:avLst>
              <a:gd name="adj" fmla="val 35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1A2E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937760" y="1463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201168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OCR for scanned papers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Hybrid search with re-ranking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Streaming answers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retrieval-quality evaluation set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User accounts and saved chats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Grounded, citable answers</a:t>
            </a:r>
            <a:endParaRPr lang="en-US" sz="4800" dirty="0"/>
          </a:p>
        </p:txBody>
      </p:sp>
      <p:sp>
        <p:nvSpPr>
          <p:cNvPr id="3" name="Badge"/>
          <p:cNvSpPr/>
          <p:nvPr/>
        </p:nvSpPr>
        <p:spPr>
          <a:xfrm>
            <a:off x="548640" y="2734056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2697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only from your uploaded papers</a:t>
            </a:r>
            <a:endParaRPr lang="en-US" sz="1800" dirty="0"/>
          </a:p>
        </p:txBody>
      </p:sp>
      <p:sp>
        <p:nvSpPr>
          <p:cNvPr id="5" name="Badge"/>
          <p:cNvSpPr/>
          <p:nvPr/>
        </p:nvSpPr>
        <p:spPr>
          <a:xfrm>
            <a:off x="548640" y="3191256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3154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name and page on every answer</a:t>
            </a:r>
            <a:endParaRPr lang="en-US" sz="1800" dirty="0"/>
          </a:p>
        </p:txBody>
      </p:sp>
      <p:sp>
        <p:nvSpPr>
          <p:cNvPr id="7" name="Badge"/>
          <p:cNvSpPr/>
          <p:nvPr/>
        </p:nvSpPr>
        <p:spPr>
          <a:xfrm>
            <a:off x="548640" y="3648456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3611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handling of every failure case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ginalia">
  <a:themeElements>
    <a:clrScheme name="Marginalia">
      <a:dk1>
        <a:srgbClr val="171A2E"/>
      </a:dk1>
      <a:lt1>
        <a:srgbClr val="FFFFFF"/>
      </a:lt1>
      <a:dk2>
        <a:srgbClr val="4A4F6A"/>
      </a:dk2>
      <a:lt2>
        <a:srgbClr val="ECEEF6"/>
      </a:lt2>
      <a:accent1>
        <a:srgbClr val="3A3DDB"/>
      </a:accent1>
      <a:accent2>
        <a:srgbClr val="FFE35C"/>
      </a:accent2>
      <a:accent3>
        <a:srgbClr val="17734D"/>
      </a:accent3>
      <a:accent4>
        <a:srgbClr val="B3302D"/>
      </a:accent4>
      <a:accent5>
        <a:srgbClr val="747993"/>
      </a:accent5>
      <a:accent6>
        <a:srgbClr val="DADDEB"/>
      </a:accent6>
      <a:hlink>
        <a:srgbClr val="3A3DDB"/>
      </a:hlink>
      <a:folHlink>
        <a:srgbClr val="4A4F6A"/>
      </a:folHlink>
    </a:clrScheme>
    <a:fontScheme name="Marginali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Marginalia - Research Paper Assistant using RAG</dc:title>
  <dc:subject>PptxGenJS Presentation</dc:subject>
  <dc:creator>Anushay Ayat</dc:creator>
  <cp:lastModifiedBy>Anushay Ayat</cp:lastModifiedBy>
  <cp:revision>1</cp:revision>
  <dcterms:created xsi:type="dcterms:W3CDTF">2026-10-12T10:27:16Z</dcterms:created>
  <dcterms:modified xsi:type="dcterms:W3CDTF">2026-10-12T10:27:16Z</dcterms:modified>
</cp:coreProperties>
</file>